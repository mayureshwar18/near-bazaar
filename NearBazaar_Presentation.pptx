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-41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CBD0B-E160-4652-84B7-9B7802EC5BAE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BABB7-D099-4F46-A2DC-B562932C11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16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14"/>
          </a:solidFill>
          <a:ln w="12700">
            <a:solidFill>
              <a:srgbClr val="0A2E14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132320" y="3273552"/>
            <a:ext cx="2743200" cy="2743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-822960"/>
            <a:ext cx="1645920" cy="164592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</a:t>
            </a: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Bazaar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 Nearby, Save Easy</a:t>
            </a:r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SY </a:t>
            </a:r>
            <a:r>
              <a:rPr lang="en-US" sz="1200" dirty="0" err="1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2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(Computer Technology) 4</a:t>
            </a:r>
            <a:r>
              <a:rPr lang="en-US" sz="1200" baseline="300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2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2025–26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Ratan Tata Maharashtra </a:t>
            </a:r>
            <a:r>
              <a:rPr lang="en-US" sz="12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</a:t>
            </a:r>
            <a:r>
              <a:rPr lang="en-US" sz="12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University, Pune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2405932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9264" y="34472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4ADE80"/>
                </a:solidFill>
              </a:rPr>
              <a:t>https://</a:t>
            </a:r>
            <a:r>
              <a:rPr lang="en-US" sz="1200" b="1" dirty="0" smtClean="0">
                <a:solidFill>
                  <a:srgbClr val="4ADE80"/>
                </a:solidFill>
              </a:rPr>
              <a:t>nearbaz.netlify.app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1054" y="3977640"/>
            <a:ext cx="315666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B7280"/>
                </a:solidFill>
              </a:rPr>
              <a:t>Presented </a:t>
            </a:r>
            <a:r>
              <a:rPr lang="en-US" sz="1100" dirty="0" smtClean="0">
                <a:solidFill>
                  <a:srgbClr val="6B7280"/>
                </a:solidFill>
              </a:rPr>
              <a:t>by :- </a:t>
            </a:r>
          </a:p>
          <a:p>
            <a:r>
              <a:rPr lang="en-IN" sz="1100" dirty="0" smtClean="0">
                <a:solidFill>
                  <a:srgbClr val="FFFF00"/>
                </a:solidFill>
              </a:rPr>
              <a:t>MAYURESHWAR </a:t>
            </a:r>
            <a:r>
              <a:rPr lang="en-IN" sz="1100" dirty="0">
                <a:solidFill>
                  <a:srgbClr val="FFFF00"/>
                </a:solidFill>
              </a:rPr>
              <a:t>PRASHANT HUSE </a:t>
            </a:r>
            <a:r>
              <a:rPr lang="en-IN" sz="1100" dirty="0" smtClean="0">
                <a:solidFill>
                  <a:srgbClr val="FFFF00"/>
                </a:solidFill>
              </a:rPr>
              <a:t>(24103900156</a:t>
            </a:r>
            <a:r>
              <a:rPr lang="en-IN" sz="1100" dirty="0" smtClean="0">
                <a:solidFill>
                  <a:srgbClr val="FFFF00"/>
                </a:solidFill>
              </a:rPr>
              <a:t>)</a:t>
            </a:r>
            <a:endParaRPr lang="en-IN" sz="1100" dirty="0" smtClean="0">
              <a:solidFill>
                <a:srgbClr val="FFFF0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92240" y="822960"/>
            <a:ext cx="2286000" cy="2286000"/>
          </a:xfrm>
          <a:prstGeom prst="ellipse">
            <a:avLst/>
          </a:prstGeom>
          <a:solidFill>
            <a:srgbClr val="166534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25880"/>
            <a:ext cx="1280160" cy="1280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DE80"/>
                </a:solidFill>
              </a:rPr>
              <a:t>1 / 14</a:t>
            </a:r>
            <a:endParaRPr lang="en-US" sz="8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8" y="783590"/>
            <a:ext cx="2310463" cy="23253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Shape 3"/>
          <p:cNvSpPr/>
          <p:nvPr/>
        </p:nvSpPr>
        <p:spPr>
          <a:xfrm>
            <a:off x="-535388" y="-670560"/>
            <a:ext cx="1645920" cy="164592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68580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777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" y="1088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3624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Why NearBazaar?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68580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68580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777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56432" y="1088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13624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What NearBazaar does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68580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68580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777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36792" y="1088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6792" y="13624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Tech stack &amp;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96596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196596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057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" y="23682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26426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All three roles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96596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96596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057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56432" y="23682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Order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26426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End-to-end process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96596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96596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2057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36792" y="23682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Demo Screens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26426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Live app walkthrough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24612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24612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6072" y="36484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6072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Tools &amp; technologies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324612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324612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456432" y="36484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Testing &amp; Results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56432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What we validated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246120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3246120"/>
            <a:ext cx="91440" cy="10515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336792" y="36484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36792" y="3922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What's next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14"/>
          </a:solidFill>
          <a:ln w="12700">
            <a:solidFill>
              <a:srgbClr val="0A2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14"/>
          </a:solidFill>
          <a:ln w="12700">
            <a:solidFill>
              <a:srgbClr val="0A2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66534">
              <a:alpha val="15000"/>
            </a:srgbClr>
          </a:solidFill>
          <a:ln w="12700">
            <a:solidFill>
              <a:srgbClr val="166534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FCE7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DE80"/>
                </a:solidFill>
              </a:rPr>
              <a:t>3 /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Million+ </a:t>
            </a: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Shops.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</a:t>
            </a: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Presence.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670" y="2043684"/>
            <a:ext cx="411480" cy="411480"/>
          </a:xfrm>
          <a:prstGeom prst="ellipse">
            <a:avLst/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</a:rPr>
              <a:t>Customers travel for daily necessities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860" y="2679192"/>
            <a:ext cx="411480" cy="411480"/>
          </a:xfrm>
          <a:prstGeom prst="ellipse">
            <a:avLst/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</a:rPr>
              <a:t>Local shops have no way to receive orders digitally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860" y="3331210"/>
            <a:ext cx="411480" cy="411480"/>
          </a:xfrm>
          <a:prstGeom prst="ellipse">
            <a:avLst/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</a:rPr>
              <a:t>Delivery riders have no structured job platform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7210" y="3950208"/>
            <a:ext cx="411480" cy="411480"/>
          </a:xfrm>
          <a:prstGeom prst="ellipse">
            <a:avLst/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0050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FAE5"/>
                </a:solidFill>
              </a:rPr>
              <a:t>Large apps bypass local economy entirely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640080"/>
            <a:ext cx="3108960" cy="3657600"/>
          </a:xfrm>
          <a:prstGeom prst="rect">
            <a:avLst/>
          </a:prstGeom>
          <a:solidFill>
            <a:srgbClr val="0F3D1E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The Gap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1234440"/>
            <a:ext cx="2743200" cy="566928"/>
          </a:xfrm>
          <a:prstGeom prst="rect">
            <a:avLst/>
          </a:prstGeom>
          <a:solidFill>
            <a:srgbClr val="166534">
              <a:alpha val="4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252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₹18 Lakh Cr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52160" y="1545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</a:rPr>
              <a:t>Local retail market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1947672"/>
            <a:ext cx="2743200" cy="566928"/>
          </a:xfrm>
          <a:prstGeom prst="rect">
            <a:avLst/>
          </a:prstGeom>
          <a:solidFill>
            <a:srgbClr val="166534">
              <a:alpha val="4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9659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52160" y="2258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</a:rPr>
              <a:t>Digitised so far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2660904"/>
            <a:ext cx="2743200" cy="566928"/>
          </a:xfrm>
          <a:prstGeom prst="rect">
            <a:avLst/>
          </a:prstGeom>
          <a:solidFill>
            <a:srgbClr val="166534">
              <a:alpha val="4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679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min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52160" y="2971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</a:rPr>
              <a:t>Target delivery time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3374136"/>
            <a:ext cx="2743200" cy="566928"/>
          </a:xfrm>
          <a:prstGeom prst="rect">
            <a:avLst/>
          </a:prstGeom>
          <a:solidFill>
            <a:srgbClr val="166534">
              <a:alpha val="4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3924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852160" y="3685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</a:rPr>
              <a:t>Cost to shop to join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O</a:t>
            </a:r>
            <a:r>
              <a:rPr lang="en-US" sz="800" b="1" kern="0" spc="300" dirty="0" smtClean="0">
                <a:solidFill>
                  <a:srgbClr val="166534"/>
                </a:solidFill>
              </a:rPr>
              <a:t>UR </a:t>
            </a:r>
            <a:r>
              <a:rPr lang="en-US" sz="800" b="1" kern="0" spc="300" dirty="0">
                <a:solidFill>
                  <a:srgbClr val="166534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</a:t>
            </a: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Bazaar — </a:t>
            </a: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Platform, Three Roles</a:t>
            </a:r>
            <a:endParaRPr lang="en-US" sz="2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" y="987552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251460" y="1012698"/>
            <a:ext cx="2743200" cy="68580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371600" y="1129284"/>
            <a:ext cx="502920" cy="5029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10" name="Text 7"/>
          <p:cNvSpPr/>
          <p:nvPr/>
        </p:nvSpPr>
        <p:spPr>
          <a:xfrm>
            <a:off x="347472" y="17647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 smtClean="0">
              <a:solidFill>
                <a:srgbClr val="111827"/>
              </a:solidFill>
            </a:endParaRPr>
          </a:p>
          <a:p>
            <a:pPr marL="0" indent="0" algn="ctr">
              <a:buNone/>
            </a:pPr>
            <a:r>
              <a:rPr lang="en-US" sz="1400" b="1" dirty="0" smtClean="0">
                <a:solidFill>
                  <a:srgbClr val="111827"/>
                </a:solidFill>
              </a:rPr>
              <a:t>Customer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" y="225856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21579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Browse local shops by distance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70" y="274777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266090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Add to cart &amp; place order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689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8368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Live 5-step order tracking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5793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8368" y="366674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OTP-confirmed delivery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4263136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8368" y="416966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Send broadcast requests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3223260" y="987552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3246120" y="1037844"/>
            <a:ext cx="2743200" cy="6858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4510" y="1137666"/>
            <a:ext cx="502920" cy="5029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sp>
        <p:nvSpPr>
          <p:cNvPr id="24" name="Text 15"/>
          <p:cNvSpPr/>
          <p:nvPr/>
        </p:nvSpPr>
        <p:spPr>
          <a:xfrm>
            <a:off x="3319272" y="17647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 smtClean="0">
              <a:solidFill>
                <a:srgbClr val="111827"/>
              </a:solidFill>
            </a:endParaRPr>
          </a:p>
          <a:p>
            <a:pPr marL="0" indent="0" algn="ctr">
              <a:buNone/>
            </a:pPr>
            <a:r>
              <a:rPr lang="en-US" sz="1400" b="1" dirty="0" smtClean="0">
                <a:solidFill>
                  <a:srgbClr val="111827"/>
                </a:solidFill>
              </a:rPr>
              <a:t>Shopkeeper</a:t>
            </a:r>
            <a:endParaRPr lang="en-US" sz="14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00" y="2264918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630168" y="21579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Receive real-time order alerts</a:t>
            </a:r>
            <a:endParaRPr lang="en-US" sz="10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742692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630168" y="266090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Accept / Reject with one tap</a:t>
            </a:r>
            <a:endParaRPr lang="en-US" sz="10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64408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630168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Manage inventory &amp; images</a:t>
            </a:r>
            <a:endParaRPr lang="en-US" sz="10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50" y="3767328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630168" y="366674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Mark Packed → notify driver</a:t>
            </a:r>
            <a:endParaRPr lang="en-US" sz="10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820" y="4263136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630168" y="416966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Sales analytics dashboard</a:t>
            </a:r>
            <a:endParaRPr lang="en-US" sz="1050" dirty="0"/>
          </a:p>
        </p:txBody>
      </p:sp>
      <p:sp>
        <p:nvSpPr>
          <p:cNvPr id="35" name="Shape 21"/>
          <p:cNvSpPr/>
          <p:nvPr/>
        </p:nvSpPr>
        <p:spPr>
          <a:xfrm>
            <a:off x="6231636" y="988568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23"/>
          <p:cNvSpPr/>
          <p:nvPr/>
        </p:nvSpPr>
        <p:spPr>
          <a:xfrm>
            <a:off x="6300216" y="176961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 smtClean="0">
              <a:solidFill>
                <a:srgbClr val="111827"/>
              </a:solidFill>
            </a:endParaRPr>
          </a:p>
          <a:p>
            <a:pPr marL="0" indent="0" algn="ctr">
              <a:buNone/>
            </a:pPr>
            <a:r>
              <a:rPr lang="en-US" sz="1400" b="1" dirty="0" smtClean="0">
                <a:solidFill>
                  <a:srgbClr val="111827"/>
                </a:solidFill>
              </a:rPr>
              <a:t>Driver</a:t>
            </a:r>
            <a:endParaRPr lang="en-US" sz="14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050" y="2258568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601968" y="21579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Go Online → see nearby jobs</a:t>
            </a:r>
            <a:endParaRPr lang="en-US" sz="105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20" y="2761488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601968" y="266090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Accept closest packed order</a:t>
            </a:r>
            <a:endParaRPr lang="en-US" sz="105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64408"/>
            <a:ext cx="182880" cy="1828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601968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GPS navigation to shop</a:t>
            </a:r>
            <a:endParaRPr lang="en-US" sz="105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90" y="3767328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6601968" y="366674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OTP entry to confirm delivery</a:t>
            </a:r>
            <a:endParaRPr lang="en-US" sz="105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130" y="4297680"/>
            <a:ext cx="182880" cy="1828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6601968" y="416966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Track daily earnings</a:t>
            </a:r>
            <a:endParaRPr lang="en-US" sz="1050" dirty="0"/>
          </a:p>
        </p:txBody>
      </p:sp>
      <p:sp>
        <p:nvSpPr>
          <p:cNvPr id="49" name="Shape 14"/>
          <p:cNvSpPr/>
          <p:nvPr/>
        </p:nvSpPr>
        <p:spPr>
          <a:xfrm>
            <a:off x="6231636" y="1012698"/>
            <a:ext cx="2743200" cy="6858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51776" y="1113790"/>
            <a:ext cx="502920" cy="5029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4"/>
          <p:cNvSpPr/>
          <p:nvPr/>
        </p:nvSpPr>
        <p:spPr>
          <a:xfrm>
            <a:off x="6400800" y="164592"/>
            <a:ext cx="245745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just"/>
            <a:r>
              <a:rPr lang="en-US" sz="1400" b="1" dirty="0" smtClean="0">
                <a:solidFill>
                  <a:schemeClr val="accent4">
                    <a:lumMod val="75000"/>
                  </a:schemeClr>
                </a:solidFill>
              </a:rPr>
              <a:t>https://</a:t>
            </a:r>
            <a:r>
              <a:rPr lang="en-US" sz="1400" b="1" dirty="0" smtClean="0">
                <a:solidFill>
                  <a:schemeClr val="accent4">
                    <a:lumMod val="75000"/>
                  </a:schemeClr>
                </a:solidFill>
              </a:rPr>
              <a:t>nearbaz.netlify.app</a:t>
            </a:r>
            <a:endParaRPr lang="en-I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9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PRESENTATION LAYER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179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1D5DB"/>
                </a:solidFill>
              </a:rPr>
              <a:t>Browser / PWA  ·  HTML5  CSS3  Vanilla JS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80360" y="1481328"/>
            <a:ext cx="1078992" cy="274320"/>
          </a:xfrm>
          <a:prstGeom prst="rect">
            <a:avLst/>
          </a:prstGeom>
          <a:solidFill>
            <a:srgbClr val="1D4ED8">
              <a:alpha val="15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4904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</a:rPr>
              <a:t>Customer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32504" y="1481328"/>
            <a:ext cx="1078992" cy="274320"/>
          </a:xfrm>
          <a:prstGeom prst="rect">
            <a:avLst/>
          </a:prstGeom>
          <a:solidFill>
            <a:srgbClr val="1D4ED8">
              <a:alpha val="15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2504" y="14904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</a:rPr>
              <a:t>Shopkeeper App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84648" y="1481328"/>
            <a:ext cx="1078992" cy="274320"/>
          </a:xfrm>
          <a:prstGeom prst="rect">
            <a:avLst/>
          </a:prstGeom>
          <a:solidFill>
            <a:srgbClr val="1D4ED8">
              <a:alpha val="15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4904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</a:rPr>
              <a:t>Driver App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07408" y="1810512"/>
            <a:ext cx="329184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93392"/>
            <a:ext cx="8412480" cy="27432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02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FIREBASE SERVICES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2002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1D5DB"/>
                </a:solidFill>
              </a:rPr>
              <a:t>Firestore NoSQL  ·  Auth  ·  Real-time onSnapshot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04288" y="2304288"/>
            <a:ext cx="1078992" cy="274320"/>
          </a:xfrm>
          <a:prstGeom prst="rect">
            <a:avLst/>
          </a:prstGeom>
          <a:solidFill>
            <a:srgbClr val="1A5C2A">
              <a:alpha val="15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3134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Firebase Auth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56432" y="2304288"/>
            <a:ext cx="1078992" cy="274320"/>
          </a:xfrm>
          <a:prstGeom prst="rect">
            <a:avLst/>
          </a:prstGeom>
          <a:solidFill>
            <a:srgbClr val="1A5C2A">
              <a:alpha val="15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3134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Firestore DB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08576" y="2304288"/>
            <a:ext cx="1078992" cy="274320"/>
          </a:xfrm>
          <a:prstGeom prst="rect">
            <a:avLst/>
          </a:prstGeom>
          <a:solidFill>
            <a:srgbClr val="1A5C2A">
              <a:alpha val="15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23134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Security Rules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60720" y="2304288"/>
            <a:ext cx="1078992" cy="274320"/>
          </a:xfrm>
          <a:prstGeom prst="rect">
            <a:avLst/>
          </a:prstGeom>
          <a:solidFill>
            <a:srgbClr val="1A5C2A">
              <a:alpha val="15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3134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Real-time Sync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07408" y="2633472"/>
            <a:ext cx="329184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816352"/>
            <a:ext cx="84124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25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EXTERNAL SERVICES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1D5DB"/>
                </a:solidFill>
              </a:rPr>
              <a:t>Cloudinary CDN  ·  Nominatim  ·  Google Maps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80360" y="3127248"/>
            <a:ext cx="1078992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13639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Cloudinary CDN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32504" y="3127248"/>
            <a:ext cx="1078992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32504" y="313639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Nominatim API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84648" y="3127248"/>
            <a:ext cx="1078992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313639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Google Maps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07408" y="3456432"/>
            <a:ext cx="329184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639312"/>
            <a:ext cx="8412480" cy="2743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48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DATA LAYER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0" y="3648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1D5DB"/>
                </a:solidFill>
              </a:rPr>
              <a:t>7 Firestore Collections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6072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users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728216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28216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orders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880360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inventory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032504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32504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requests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84648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84648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reviews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36792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notifications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88936" y="3950208"/>
            <a:ext cx="1078992" cy="274320"/>
          </a:xfrm>
          <a:prstGeom prst="rect">
            <a:avLst/>
          </a:prstGeom>
          <a:solidFill>
            <a:srgbClr val="166534">
              <a:alpha val="15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88936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shops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63640" y="11430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 Features Built for Real Use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24912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280160"/>
            <a:ext cx="594360" cy="594360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62456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568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Hyperlocal Discovery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2860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Browse shops sorted by GPS distance with live Open/Closed status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115568"/>
            <a:ext cx="2724912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64992" y="1280160"/>
            <a:ext cx="594360" cy="5943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62456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9568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Smart Cart &amp; Orders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22860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Multi-item cart with cross-shop conflict detection &amp; COD/Online pay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1115568"/>
            <a:ext cx="2724912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45352" y="12801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36245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19568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Real-time Notifications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22860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Push-style in-app alerts for every event across all three roles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2880360"/>
            <a:ext cx="2724912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" y="304495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12724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11480" y="37216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4-Digit OTP Delivery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11480" y="405079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Unique OTP generated at order placement — driver must verify at door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880360"/>
            <a:ext cx="2724912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64992" y="3044952"/>
            <a:ext cx="594360" cy="59436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127248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291840" y="37216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Broadcast Requests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291840" y="405079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Customer sends item request to ALL shops within set km radius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80760" y="2880360"/>
            <a:ext cx="2724912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45352" y="3044952"/>
            <a:ext cx="594360" cy="594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127248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172200" y="37216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Shop Analytics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405079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Revenue, order count, top products — all live from Firestore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14"/>
          </a:solidFill>
          <a:ln w="12700">
            <a:solidFill>
              <a:srgbClr val="0A2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0A2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166534">
              <a:alpha val="10000"/>
            </a:srgbClr>
          </a:solidFill>
          <a:ln w="12700">
            <a:solidFill>
              <a:srgbClr val="166534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FCE7"/>
                </a:solidFill>
              </a:rPr>
              <a:t>ORDER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DE80"/>
                </a:solidFill>
              </a:rPr>
              <a:t>7 /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Order Lifecycle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1353312" cy="3017520"/>
          </a:xfrm>
          <a:prstGeom prst="rect">
            <a:avLst/>
          </a:prstGeom>
          <a:solidFill>
            <a:srgbClr val="1D4ED8">
              <a:alpha val="18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1353312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34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02336" y="1874520"/>
            <a:ext cx="1097280" cy="274320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83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" y="2231136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Place Order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" y="28163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OTP generated &amp; stored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27632" y="2514600"/>
            <a:ext cx="7315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1115568"/>
            <a:ext cx="1353312" cy="3017520"/>
          </a:xfrm>
          <a:prstGeom prst="rect">
            <a:avLst/>
          </a:prstGeom>
          <a:solidFill>
            <a:srgbClr val="166534">
              <a:alpha val="18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1115568"/>
            <a:ext cx="1353312" cy="1097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0784" y="1234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1828800" y="1874520"/>
            <a:ext cx="1097280" cy="274320"/>
          </a:xfrm>
          <a:prstGeom prst="rect">
            <a:avLst/>
          </a:prstGeom>
          <a:solidFill>
            <a:srgbClr val="166534">
              <a:alpha val="7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92224" y="1883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Shopkeeper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55648" y="2231136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Accept Order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755648" y="28163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Customer notified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54096" y="2514600"/>
            <a:ext cx="7315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7248" y="1115568"/>
            <a:ext cx="1353312" cy="3017520"/>
          </a:xfrm>
          <a:prstGeom prst="rect">
            <a:avLst/>
          </a:prstGeom>
          <a:solidFill>
            <a:srgbClr val="1A5C2A">
              <a:alpha val="18000"/>
            </a:srgbClr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27248" y="1115568"/>
            <a:ext cx="1353312" cy="10972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1234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3255264" y="1874520"/>
            <a:ext cx="1097280" cy="274320"/>
          </a:xfrm>
          <a:prstGeom prst="rect">
            <a:avLst/>
          </a:prstGeom>
          <a:solidFill>
            <a:srgbClr val="1A5C2A">
              <a:alpha val="70000"/>
            </a:srgbClr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883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Shopkeeper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82112" y="2231136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Mark Packed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82112" y="28163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Drivers see it in app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2514600"/>
            <a:ext cx="7315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1115568"/>
            <a:ext cx="1353312" cy="30175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3712" y="1115568"/>
            <a:ext cx="135331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1234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4681728" y="1874520"/>
            <a:ext cx="109728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1883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Driver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08576" y="2231136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Accept Delivery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08576" y="28163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Status → On the Way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07024" y="2514600"/>
            <a:ext cx="7315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0176" y="1115568"/>
            <a:ext cx="1353312" cy="301752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0176" y="1115568"/>
            <a:ext cx="135331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1234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6108192" y="1874520"/>
            <a:ext cx="1097280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1616" y="1883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Driver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035040" y="2231136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Enter OTP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035040" y="28163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Customer shows code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33488" y="2514600"/>
            <a:ext cx="7315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1115568"/>
            <a:ext cx="1353312" cy="301752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1115568"/>
            <a:ext cx="1353312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12344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51" name="Shape 49"/>
          <p:cNvSpPr/>
          <p:nvPr/>
        </p:nvSpPr>
        <p:spPr>
          <a:xfrm>
            <a:off x="7534656" y="1874520"/>
            <a:ext cx="1097280" cy="274320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1883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61504" y="2231136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Delivered!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461504" y="28163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Rating &amp; earnings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361688"/>
            <a:ext cx="292608" cy="292608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22960" y="43525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4-Digit OTP System: Customer receives OTP at order → shows to driver → driver enters to confirm delivery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UNIQUE 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8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 Request — Our Differentiator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Customer types items needed (e.g. Milk, Bread, Rice)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347472" cy="347472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167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Selects broadcast radius (1–15 km)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347472" cy="347472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734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All shops within range receive live notification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347472" cy="347472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009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Shops reply with itemised prices + ETA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347472" cy="347472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8679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Customer accepts the best quote → shop opens to order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4114800" cy="3749040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78992"/>
            <a:ext cx="4114800" cy="38404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this is unique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600200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618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</a:rPr>
              <a:t>Not in Blinkit/Zepto/Swiggy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1874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They only show what shops list — not request-based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350008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368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</a:rPr>
              <a:t>Reverse marketplace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2624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Customer demand drives shop response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3099816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</a:rPr>
              <a:t>Price comparison built-in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47488" y="3374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Multiple quotes, customer chooses best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3849624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</a:rPr>
              <a:t>Works even offline shops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4123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Any shop can respond to a broadcast request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9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1591056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15568"/>
            <a:ext cx="1572768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pPr algn="ctr"/>
            <a:endParaRPr lang="en-US" b="1" dirty="0">
              <a:solidFill>
                <a:srgbClr val="FFFFFF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FF"/>
                </a:solidFill>
              </a:rPr>
              <a:t>Frontend</a:t>
            </a:r>
            <a:endParaRPr lang="en-IN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77" y="1115568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1892808"/>
            <a:ext cx="1371600" cy="512064"/>
          </a:xfrm>
          <a:prstGeom prst="rect">
            <a:avLst/>
          </a:prstGeom>
          <a:solidFill>
            <a:srgbClr val="1D4ED8">
              <a:alpha val="10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91109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HTML5 · CSS3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1371600" cy="512064"/>
          </a:xfrm>
          <a:prstGeom prst="rect">
            <a:avLst/>
          </a:prstGeom>
          <a:solidFill>
            <a:srgbClr val="1D4ED8">
              <a:alpha val="10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2532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Vanilla JavaScript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136392"/>
            <a:ext cx="1371600" cy="512064"/>
          </a:xfrm>
          <a:prstGeom prst="rect">
            <a:avLst/>
          </a:prstGeom>
          <a:solidFill>
            <a:srgbClr val="1D4ED8">
              <a:alpha val="10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3154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Progressive Web App </a:t>
            </a:r>
            <a:endParaRPr lang="en-US" sz="950" dirty="0" smtClean="0">
              <a:solidFill>
                <a:srgbClr val="111827"/>
              </a:solidFill>
            </a:endParaRPr>
          </a:p>
          <a:p>
            <a:pPr marL="0" indent="0" algn="ctr">
              <a:buNone/>
            </a:pPr>
            <a:r>
              <a:rPr lang="en-US" sz="950" dirty="0" smtClean="0">
                <a:solidFill>
                  <a:srgbClr val="111827"/>
                </a:solidFill>
              </a:rPr>
              <a:t>(</a:t>
            </a:r>
            <a:r>
              <a:rPr lang="en-US" sz="950" dirty="0">
                <a:solidFill>
                  <a:srgbClr val="111827"/>
                </a:solidFill>
              </a:rPr>
              <a:t>PWA)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758184"/>
            <a:ext cx="1371600" cy="512064"/>
          </a:xfrm>
          <a:prstGeom prst="rect">
            <a:avLst/>
          </a:prstGeom>
          <a:solidFill>
            <a:srgbClr val="1D4ED8">
              <a:alpha val="10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377647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Mobile-first Responsive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048256" y="1115568"/>
            <a:ext cx="1591056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048256" y="1115568"/>
            <a:ext cx="1591056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b="1" dirty="0" smtClean="0">
              <a:solidFill>
                <a:srgbClr val="FFFFFF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FF"/>
                </a:solidFill>
              </a:rPr>
              <a:t>Database</a:t>
            </a:r>
            <a:endParaRPr lang="en-IN" sz="16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854" y="1152913"/>
            <a:ext cx="325859" cy="32585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2157984" y="1892808"/>
            <a:ext cx="1371600" cy="512064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139696" y="191109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Firebase Firestore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157984" y="2514600"/>
            <a:ext cx="1371600" cy="512064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139696" y="2532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NoSQL Documents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157984" y="3136392"/>
            <a:ext cx="1371600" cy="512064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139696" y="3154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Real-time onSnapshot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157984" y="3758184"/>
            <a:ext cx="1371600" cy="512064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9696" y="377647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 Collections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749040" y="1115568"/>
            <a:ext cx="1591056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749040" y="1121387"/>
            <a:ext cx="1591056" cy="64008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1143448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785616" y="1509208"/>
            <a:ext cx="1517904" cy="24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 &amp; Security</a:t>
            </a:r>
            <a:endParaRPr lang="en-US" sz="1400" b="1" dirty="0"/>
          </a:p>
        </p:txBody>
      </p:sp>
      <p:sp>
        <p:nvSpPr>
          <p:cNvPr id="35" name="Shape 30"/>
          <p:cNvSpPr/>
          <p:nvPr/>
        </p:nvSpPr>
        <p:spPr>
          <a:xfrm>
            <a:off x="3858768" y="1892808"/>
            <a:ext cx="1371600" cy="512064"/>
          </a:xfrm>
          <a:prstGeom prst="rect">
            <a:avLst/>
          </a:prstGeom>
          <a:solidFill>
            <a:srgbClr val="1A5C2A">
              <a:alpha val="10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840480" y="191109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Firebase Auth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858768" y="2514600"/>
            <a:ext cx="1371600" cy="512064"/>
          </a:xfrm>
          <a:prstGeom prst="rect">
            <a:avLst/>
          </a:prstGeom>
          <a:solidFill>
            <a:srgbClr val="1A5C2A">
              <a:alpha val="10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840480" y="2532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Email + Google OAuth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3858768" y="3136392"/>
            <a:ext cx="1371600" cy="512064"/>
          </a:xfrm>
          <a:prstGeom prst="rect">
            <a:avLst/>
          </a:prstGeom>
          <a:solidFill>
            <a:srgbClr val="1A5C2A">
              <a:alpha val="10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840480" y="3154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Firestore Security Rules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3858768" y="3758184"/>
            <a:ext cx="1371600" cy="512064"/>
          </a:xfrm>
          <a:prstGeom prst="rect">
            <a:avLst/>
          </a:prstGeom>
          <a:solidFill>
            <a:srgbClr val="1A5C2A">
              <a:alpha val="10000"/>
            </a:srgbClr>
          </a:solidFill>
          <a:ln w="6350">
            <a:solidFill>
              <a:srgbClr val="1A5C2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840480" y="377647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Role-based Access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5449824" y="1115568"/>
            <a:ext cx="1591056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49824" y="1115568"/>
            <a:ext cx="1591056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1148308"/>
            <a:ext cx="365760" cy="36576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486400" y="1496804"/>
            <a:ext cx="1517904" cy="264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Hosting &amp; CDN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5559552" y="1892808"/>
            <a:ext cx="1371600" cy="512064"/>
          </a:xfrm>
          <a:prstGeom prst="rect">
            <a:avLst/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541264" y="191109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Netlify (Free Tier)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5559552" y="2514600"/>
            <a:ext cx="1371600" cy="512064"/>
          </a:xfrm>
          <a:prstGeom prst="rect">
            <a:avLst/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541264" y="2532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Cloudinary Images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559552" y="3136392"/>
            <a:ext cx="1371600" cy="512064"/>
          </a:xfrm>
          <a:prstGeom prst="rect">
            <a:avLst/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541264" y="3154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Nominatim Geocoding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5559552" y="3758184"/>
            <a:ext cx="1371600" cy="512064"/>
          </a:xfrm>
          <a:prstGeom prst="rect">
            <a:avLst/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541264" y="377647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Google Maps API</a:t>
            </a:r>
            <a:endParaRPr 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7150608" y="1115568"/>
            <a:ext cx="1591056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7150608" y="1115568"/>
            <a:ext cx="1591056" cy="6400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148308"/>
            <a:ext cx="365760" cy="36576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7187184" y="1514068"/>
            <a:ext cx="1517904" cy="24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DevExp</a:t>
            </a:r>
            <a:endParaRPr lang="en-US" sz="1400" dirty="0"/>
          </a:p>
        </p:txBody>
      </p:sp>
      <p:sp>
        <p:nvSpPr>
          <p:cNvPr id="59" name="Shape 52"/>
          <p:cNvSpPr/>
          <p:nvPr/>
        </p:nvSpPr>
        <p:spPr>
          <a:xfrm>
            <a:off x="7260336" y="1892808"/>
            <a:ext cx="1371600" cy="512064"/>
          </a:xfrm>
          <a:prstGeom prst="rect">
            <a:avLst/>
          </a:prstGeom>
          <a:solidFill>
            <a:srgbClr val="166534">
              <a:alpha val="10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7242048" y="191109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Zero backend server</a:t>
            </a:r>
            <a:endParaRPr lang="en-US" sz="950" dirty="0"/>
          </a:p>
        </p:txBody>
      </p:sp>
      <p:sp>
        <p:nvSpPr>
          <p:cNvPr id="61" name="Shape 54"/>
          <p:cNvSpPr/>
          <p:nvPr/>
        </p:nvSpPr>
        <p:spPr>
          <a:xfrm>
            <a:off x="7260336" y="2514600"/>
            <a:ext cx="1371600" cy="512064"/>
          </a:xfrm>
          <a:prstGeom prst="rect">
            <a:avLst/>
          </a:prstGeom>
          <a:solidFill>
            <a:srgbClr val="166534">
              <a:alpha val="10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7242048" y="2532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No build tools needed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7260336" y="3136392"/>
            <a:ext cx="1371600" cy="512064"/>
          </a:xfrm>
          <a:prstGeom prst="rect">
            <a:avLst/>
          </a:prstGeom>
          <a:solidFill>
            <a:srgbClr val="166534">
              <a:alpha val="10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7242048" y="3154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Serverless architecture</a:t>
            </a:r>
            <a:endParaRPr lang="en-US" sz="950" dirty="0"/>
          </a:p>
        </p:txBody>
      </p:sp>
      <p:sp>
        <p:nvSpPr>
          <p:cNvPr id="65" name="Shape 58"/>
          <p:cNvSpPr/>
          <p:nvPr/>
        </p:nvSpPr>
        <p:spPr>
          <a:xfrm>
            <a:off x="7260336" y="3758184"/>
            <a:ext cx="1371600" cy="512064"/>
          </a:xfrm>
          <a:prstGeom prst="rect">
            <a:avLst/>
          </a:prstGeom>
          <a:solidFill>
            <a:srgbClr val="166534">
              <a:alpha val="10000"/>
            </a:srgbClr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7242048" y="377647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₹0 infra cost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DATABASE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10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Collections &amp; Data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4023360" cy="29260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430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DE68A"/>
                </a:solidFill>
              </a:rPr>
              <a:t>PK: uid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name · email · phone · role · location · shopName · vehicleNumber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1115568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115568"/>
            <a:ext cx="402336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430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DE68A"/>
                </a:solidFill>
              </a:rPr>
              <a:t>PK: orderId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36008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customerId · shopId · driverId · items[] · status · deliveryOTP · grandTotal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295144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95144"/>
            <a:ext cx="402336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DE68A"/>
                </a:solidFill>
              </a:rPr>
              <a:t>PK: itemId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" y="26243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shopId · name · price · mrp · stock · category · imageUrl · inStock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295144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2295144"/>
            <a:ext cx="4023360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331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DE68A"/>
                </a:solidFill>
              </a:rPr>
              <a:t>PK: notifId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36008" y="26243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userId · type · message · read · createdAt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47472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74720"/>
            <a:ext cx="40233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502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8036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DE68A"/>
                </a:solidFill>
              </a:rPr>
              <a:t>PK: reqId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9768" y="380390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customerId · items[] · radius · location · status · responses[]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26280" y="347472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3474720"/>
            <a:ext cx="40233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502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DE68A"/>
                </a:solidFill>
              </a:rPr>
              <a:t>PK: reviewId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36008" y="380390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orderId · shopId · customerId · shopRating · driverRating · comment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576572"/>
            <a:ext cx="850392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765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</a:rPr>
              <a:t>No server-side code. Firestore Security Rules enforce role-based access directly on the database.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TESTING &amp;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11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Tested &amp; What Passed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15568"/>
            <a:ext cx="1965960" cy="91440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70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</a:rPr>
              <a:t>20+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1FAE5"/>
                </a:solidFill>
              </a:rPr>
              <a:t>Test Cases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115568"/>
            <a:ext cx="196596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170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1FAE5"/>
                </a:solidFill>
              </a:rPr>
              <a:t>Pass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196596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170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</a:rPr>
              <a:t>10+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645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1FAE5"/>
                </a:solidFill>
              </a:rPr>
              <a:t>Devices Tested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1115568"/>
            <a:ext cx="19659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170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16459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1FAE5"/>
                </a:solidFill>
              </a:rPr>
              <a:t>Live Update Lag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12848"/>
          <a:ext cx="7589520" cy="2048256"/>
        </p:xfrm>
        <a:graphic>
          <a:graphicData uri="http://schemas.openxmlformats.org/drawingml/2006/table">
            <a:tbl>
              <a:tblPr/>
              <a:tblGrid>
                <a:gridCol w="731520"/>
                <a:gridCol w="1920240"/>
                <a:gridCol w="4114800"/>
                <a:gridCol w="822960"/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</a:rPr>
                        <a:t>TC04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Customer places order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Order saved + OTP generated + shopkeeper notified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</a:rPr>
                        <a:t>TC06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Shopkeeper accepts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Status → confirmed · Customer tracking updates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</a:rPr>
                        <a:t>TC07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Mark Packed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Status → packed · Driver dashboard refreshes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</a:rPr>
                        <a:t>TC08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Driver accepts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Status → otw · Customer sees OTP banner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</a:rPr>
                        <a:t>TC09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Correct OTP entered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Status → delivered · Earnings credited · Notifications sent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</a:rPr>
                        <a:t>TC10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Wrong OTP entered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Error shown · Input goes red · Status unchanged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TECHNICAL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12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 &amp; How We Solved Them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15568"/>
            <a:ext cx="416052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25296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2A"/>
                </a:solidFill>
              </a:rPr>
              <a:t>Firestore Composite Index Errors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591056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Problem: Queries using where() + orderBy() on different fields require pre-built indexes → silently returned empty results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0312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Solution: Removed all orderBy() from Firestore queries. Sort data in JavaScript after fetching. Single-field where() never needs indexes.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111556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115568"/>
            <a:ext cx="416052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25296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2A"/>
                </a:solidFill>
              </a:rPr>
              <a:t>Signup Flow Blocking Dashboard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1591056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572768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Problem: Firebase auto-signs-in user after createUserWithEmailAndPassword → auth observer fires → navigates to dashboard before success screen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2121408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10312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Solution: Added window._isHandlingAuth flag. Auth observer skips navigation when auth.js is actively handling signup/login operation.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9260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926080"/>
            <a:ext cx="416052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3580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2A"/>
                </a:solidFill>
              </a:rPr>
              <a:t>OTP Delivery Security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38328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Problem: Driver marking delivery without customer confirmation → false delivery reports, payment disputes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13632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Solution: 4-digit OTP generated server-side at order placement, stored in Firestore. Driver fetches and compares via authenticated read only.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90872" y="29260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926080"/>
            <a:ext cx="416052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03580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2A"/>
                </a:solidFill>
              </a:rPr>
              <a:t>Real-time Updates Without Polling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3401568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38328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Problem: Orders not updating on shopkeeper/driver screens without page refresh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3931920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913632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Solution: Replaced all getDocs() with onSnapshot() listeners. All three dashboards maintain 2–4 live listeners with automatic teardown on logout.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66534"/>
                </a:solidFill>
              </a:rPr>
              <a:t>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13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 for </a:t>
            </a:r>
            <a:r>
              <a:rPr lang="en-US" sz="26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</a:t>
            </a:r>
            <a:r>
              <a:rPr lang="en-US" sz="2600" b="1" dirty="0">
                <a:solidFill>
                  <a:srgbClr val="1A5C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15568"/>
            <a:ext cx="274320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704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" y="1797558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664208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React Native mobile app (Play Store + App Store)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" y="2633472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401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UPI / Razorpay payment 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3383280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163824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Live driver GPS on customer 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4133088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91363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Multi-language (Hindi, Marathi)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3552" y="1115568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115568"/>
            <a:ext cx="2743200" cy="43891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1704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0872" y="1883664"/>
            <a:ext cx="201168" cy="201168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1664208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GeoFire server-side geo-queries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38144" y="2633472"/>
            <a:ext cx="201168" cy="201168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241401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AI product recommendations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38144" y="3410712"/>
            <a:ext cx="201168" cy="201168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3163824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Customer loyalty &amp; subscription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46272" y="4133088"/>
            <a:ext cx="201168" cy="201168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391363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Multi-city geographic expansion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1115568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1115568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1704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64224" y="189814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1664208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B2B wholesale supplier integration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2032" y="26334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241401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Dark store micro-fulfilment centres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64224" y="33832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3163824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Fleet management for delivery partners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4224" y="412267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8544" y="391363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Advanced shop analytics with forecasting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" y="4640580"/>
            <a:ext cx="8449056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4058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C2A"/>
                </a:solidFill>
              </a:rPr>
              <a:t>Target market: 12M</a:t>
            </a:r>
            <a:r>
              <a:rPr lang="en-US" sz="1050" b="1" dirty="0" smtClean="0">
                <a:solidFill>
                  <a:srgbClr val="1A5C2A"/>
                </a:solidFill>
              </a:rPr>
              <a:t>+ </a:t>
            </a:r>
            <a:r>
              <a:rPr lang="en-US" sz="1050" b="1" dirty="0">
                <a:solidFill>
                  <a:srgbClr val="1A5C2A"/>
                </a:solidFill>
              </a:rPr>
              <a:t>stores in India — a ₹18 Lakh Crore opportunity waiting to go digital.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14"/>
          </a:solidFill>
          <a:ln w="12700">
            <a:solidFill>
              <a:srgbClr val="0A2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66534">
              <a:alpha val="20000"/>
            </a:srgbClr>
          </a:solidFill>
          <a:ln w="12700">
            <a:solidFill>
              <a:srgbClr val="16653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48508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DE80"/>
                </a:solidFill>
              </a:rPr>
              <a:t>14 /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DE80"/>
                </a:solidFill>
              </a:rPr>
              <a:t>We'd love to answer your questions.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41148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12848"/>
            <a:ext cx="1572768" cy="841248"/>
          </a:xfrm>
          <a:prstGeom prst="rect">
            <a:avLst/>
          </a:prstGeom>
          <a:solidFill>
            <a:srgbClr val="166534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3113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User Roles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21992" y="2212848"/>
            <a:ext cx="1572768" cy="841248"/>
          </a:xfrm>
          <a:prstGeom prst="rect">
            <a:avLst/>
          </a:prstGeom>
          <a:solidFill>
            <a:srgbClr val="166534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21992" y="223113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21992" y="26334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Firestore Collections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41064" y="2212848"/>
            <a:ext cx="1572768" cy="841248"/>
          </a:xfrm>
          <a:prstGeom prst="rect">
            <a:avLst/>
          </a:prstGeom>
          <a:solidFill>
            <a:srgbClr val="166534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223113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22C55E"/>
                </a:solidFill>
                <a:latin typeface="Trebuchet MS" pitchFamily="34" charset="0"/>
              </a:rPr>
              <a:t>20+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941064" y="26334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Test Cases — 100% Pass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0136" y="2212848"/>
            <a:ext cx="1572768" cy="841248"/>
          </a:xfrm>
          <a:prstGeom prst="rect">
            <a:avLst/>
          </a:prstGeom>
          <a:solidFill>
            <a:srgbClr val="166534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0136" y="223113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660136" y="26334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Order Status Stages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79208" y="2212848"/>
            <a:ext cx="1572768" cy="841248"/>
          </a:xfrm>
          <a:prstGeom prst="rect">
            <a:avLst/>
          </a:prstGeom>
          <a:solidFill>
            <a:srgbClr val="166534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223113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79208" y="26334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</a:rPr>
              <a:t>Infrastructure Cost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3055289" cy="457200"/>
          </a:xfrm>
          <a:prstGeom prst="rect">
            <a:avLst/>
          </a:prstGeom>
          <a:solidFill>
            <a:srgbClr val="1A5C2A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46704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4ADE80"/>
                </a:solidFill>
              </a:rPr>
              <a:t>https://</a:t>
            </a:r>
            <a:r>
              <a:rPr lang="en-US" sz="1400" b="1" dirty="0" smtClean="0">
                <a:solidFill>
                  <a:srgbClr val="4ADE80"/>
                </a:solidFill>
              </a:rPr>
              <a:t>nearbaz.netlify.app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2920" y="3886200"/>
            <a:ext cx="50109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 smtClean="0">
                <a:solidFill>
                  <a:srgbClr val="6B7280"/>
                </a:solidFill>
              </a:rPr>
              <a:t>SY </a:t>
            </a:r>
            <a:r>
              <a:rPr lang="en-US" sz="1050" dirty="0" err="1" smtClean="0">
                <a:solidFill>
                  <a:srgbClr val="6B7280"/>
                </a:solidFill>
              </a:rPr>
              <a:t>B.Tech</a:t>
            </a:r>
            <a:r>
              <a:rPr lang="en-US" sz="1050" dirty="0" smtClean="0">
                <a:solidFill>
                  <a:srgbClr val="6B7280"/>
                </a:solidFill>
              </a:rPr>
              <a:t> (CT)  </a:t>
            </a:r>
            <a:r>
              <a:rPr lang="en-US" sz="1050" dirty="0">
                <a:solidFill>
                  <a:srgbClr val="6B7280"/>
                </a:solidFill>
              </a:rPr>
              <a:t>| 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Ratan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Tata Maharashtra State Skills University, </a:t>
            </a:r>
            <a:r>
              <a:rPr lang="en-US" sz="105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r>
              <a:rPr lang="en-US" sz="1050" dirty="0" smtClean="0"/>
              <a:t> </a:t>
            </a:r>
            <a:r>
              <a:rPr lang="en-US" sz="1050" dirty="0" smtClean="0">
                <a:solidFill>
                  <a:srgbClr val="6B7280"/>
                </a:solidFill>
              </a:rPr>
              <a:t>|  </a:t>
            </a:r>
            <a:r>
              <a:rPr lang="en-US" sz="1050" dirty="0">
                <a:solidFill>
                  <a:srgbClr val="6B7280"/>
                </a:solidFill>
              </a:rPr>
              <a:t>AY 2025–26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1239</Words>
  <Application>Microsoft Office PowerPoint</Application>
  <PresentationFormat>On-screen Show (16:9)</PresentationFormat>
  <Paragraphs>334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NearBazaar – Hyperlocal Delivery Platform</dc:title>
  <dc:subject>PptxGenJS Presentation</dc:subject>
  <dc:creator>Siddhesh</dc:creator>
  <cp:lastModifiedBy>Shree</cp:lastModifiedBy>
  <cp:revision>33</cp:revision>
  <dcterms:created xsi:type="dcterms:W3CDTF">2026-04-22T15:53:21Z</dcterms:created>
  <dcterms:modified xsi:type="dcterms:W3CDTF">2026-06-13T07:49:54Z</dcterms:modified>
</cp:coreProperties>
</file>